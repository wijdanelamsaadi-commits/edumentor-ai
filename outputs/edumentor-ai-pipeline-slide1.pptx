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5489d919845d2" /><Relationship Type="http://schemas.openxmlformats.org/officeDocument/2006/relationships/extended-properties" Target="/docProps/app.xml" Id="R8ef0de4cc11d45bc" /><Relationship Type="http://schemas.openxmlformats.org/officeDocument/2006/relationships/officeDocument" Target="/ppt/presentation.xml" Id="Rf7a59ec79726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140cf5b6e4d07"/>
  </p:sldMasterIdLst>
  <p:notesMasterIdLst>
    <p:notesMasterId xmlns:r="http://schemas.openxmlformats.org/officeDocument/2006/relationships" r:id="R05d0ab78e41e4bf9"/>
  </p:notesMasterIdLst>
  <p:sldIdLst>
    <p:sldId xmlns:r="http://schemas.openxmlformats.org/officeDocument/2006/relationships" id="256" r:id="Ree84dbae14e84b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c52c6acba444d" /><Relationship Type="http://schemas.openxmlformats.org/officeDocument/2006/relationships/slideMaster" Target="/ppt/slideMasters/slideMaster1.xml" Id="R717140cf5b6e4d07" /><Relationship Type="http://schemas.openxmlformats.org/officeDocument/2006/relationships/notesMaster" Target="/ppt/notesMasters/notesMaster1.xml" Id="R05d0ab78e41e4bf9" /><Relationship Type="http://schemas.openxmlformats.org/officeDocument/2006/relationships/presProps" Target="/ppt/presProps.xml" Id="R797f929957384a7d" /><Relationship Type="http://schemas.openxmlformats.org/officeDocument/2006/relationships/tableStyles" Target="/ppt/tableStyles.xml" Id="Rd42bee8bdcdb44d1" /><Relationship Type="http://schemas.openxmlformats.org/officeDocument/2006/relationships/slide" Target="/ppt/slides/slide1.xml" Id="Ree84dbae14e8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6c84752d224b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a62d549d24d4b" /><Relationship Type="http://schemas.openxmlformats.org/officeDocument/2006/relationships/notesMaster" Target="/ppt/notesMasters/notesMaster1.xml" Id="R5ce9ac761f06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d5916397a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2c37fcc7846a8" /><Relationship Type="http://schemas.openxmlformats.org/officeDocument/2006/relationships/slideLayout" Target="/ppt/slideLayouts/slideLayout1.xml" Id="R61082e5d56fe4c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082e5d56fe4c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6978343a40d8" /><Relationship Type="http://schemas.openxmlformats.org/officeDocument/2006/relationships/notesSlide" Target="/ppt/notesSlides/notesSlide1.xml" Id="Rf93b3129fd314b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5835C986-E013-4620-8F87-B17DFDA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1573D363-B3C8-4C11-8B23-AA70D29D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AE1663-DF6F-4908-BCB6-822D8A1D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53935"/>
                </a:solidFill>
              </a:defRPr>
            </a:pPr>
            <a:r>
              <a:rPr sz="4050" b="1">
                <a:solidFill>
                  <a:srgbClr val="E53935"/>
                </a:solidFill>
              </a:rPr>
              <a:t>EduMentor AI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19F8D55-C90F-4A85-9A13-35F0B20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200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Plateforme intelligente d'apprentissage basée sur l'Intelligence Artificielle et le RAG</a:t>
            </a:r>
          </a:p>
        </p:txBody>
      </p:sp>
      <p:sp>
        <p:nvSpPr>
          <p:cNvPr id="5" name="subtitle-rule">
            <a:extLst xmlns:a="http://schemas.openxmlformats.org/drawingml/2006/main">
              <a:ext uri="{FF2B5EF4-FFF2-40B4-BE49-F238E27FC236}">
                <a16:creationId xmlns:a16="http://schemas.microsoft.com/office/drawing/2014/main" id="{0ED1C14E-EE5C-4282-BC97-2870B9B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287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6" name="OBJECTIF DU PROJET-marker">
            <a:extLst xmlns:a="http://schemas.openxmlformats.org/drawingml/2006/main">
              <a:ext uri="{FF2B5EF4-FFF2-40B4-BE49-F238E27FC236}">
                <a16:creationId xmlns:a16="http://schemas.microsoft.com/office/drawing/2014/main" id="{56C43692-647F-4375-904E-58F1FC74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7" name="OBJECTIF DU PROJET-title">
            <a:extLst xmlns:a="http://schemas.openxmlformats.org/drawingml/2006/main">
              <a:ext uri="{FF2B5EF4-FFF2-40B4-BE49-F238E27FC236}">
                <a16:creationId xmlns:a16="http://schemas.microsoft.com/office/drawing/2014/main" id="{FC9EC5EF-639E-434C-878D-A61FA325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3935"/>
                </a:solidFill>
              </a:defRPr>
            </a:pPr>
            <a:r>
              <a:rPr sz="1350" b="1">
                <a:solidFill>
                  <a:srgbClr val="E53935"/>
                </a:solidFill>
              </a:rPr>
              <a:t>OBJECTIF DU PROJET</a:t>
            </a:r>
          </a:p>
        </p:txBody>
      </p:sp>
      <p:sp>
        <p:nvSpPr>
          <p:cNvPr id="8" name="OBJECTIF DU PROJET-rule">
            <a:extLst xmlns:a="http://schemas.openxmlformats.org/drawingml/2006/main">
              <a:ext uri="{FF2B5EF4-FFF2-40B4-BE49-F238E27FC236}">
                <a16:creationId xmlns:a16="http://schemas.microsoft.com/office/drawing/2014/main" id="{92AD0872-9ACD-47E9-BE58-2C7B9A5F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81225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9" name="bullet-262">
            <a:extLst xmlns:a="http://schemas.openxmlformats.org/drawingml/2006/main">
              <a:ext uri="{FF2B5EF4-FFF2-40B4-BE49-F238E27FC236}">
                <a16:creationId xmlns:a16="http://schemas.microsoft.com/office/drawing/2014/main" id="{CFC77556-4739-4B62-8D72-3D844E5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•</a:t>
            </a:r>
          </a:p>
        </p:txBody>
      </p:sp>
      <p:sp>
        <p:nvSpPr>
          <p:cNvPr id="10" name="bullet-text-262">
            <a:extLst xmlns:a="http://schemas.openxmlformats.org/drawingml/2006/main">
              <a:ext uri="{FF2B5EF4-FFF2-40B4-BE49-F238E27FC236}">
                <a16:creationId xmlns:a16="http://schemas.microsoft.com/office/drawing/2014/main" id="{FB34B0FB-6A89-4FAE-A142-0C760B3B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Évaluer automatiquement le niveau de l'étudiant grâce à un test diagnostique.</a:t>
            </a:r>
          </a:p>
        </p:txBody>
      </p:sp>
      <p:sp>
        <p:nvSpPr>
          <p:cNvPr id="11" name="bullet-315">
            <a:extLst xmlns:a="http://schemas.openxmlformats.org/drawingml/2006/main">
              <a:ext uri="{FF2B5EF4-FFF2-40B4-BE49-F238E27FC236}">
                <a16:creationId xmlns:a16="http://schemas.microsoft.com/office/drawing/2014/main" id="{B71F0F72-240A-4815-97F2-05B6E5AE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•</a:t>
            </a:r>
          </a:p>
        </p:txBody>
      </p:sp>
      <p:sp>
        <p:nvSpPr>
          <p:cNvPr id="12" name="bullet-text-315">
            <a:extLst xmlns:a="http://schemas.openxmlformats.org/drawingml/2006/main">
              <a:ext uri="{FF2B5EF4-FFF2-40B4-BE49-F238E27FC236}">
                <a16:creationId xmlns:a16="http://schemas.microsoft.com/office/drawing/2014/main" id="{F6F2ED0D-A82A-4A99-B879-6B30C07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Adapter les cours et les quiz selon le niveau obtenu.</a:t>
            </a:r>
          </a:p>
        </p:txBody>
      </p:sp>
      <p:sp>
        <p:nvSpPr>
          <p:cNvPr id="13" name="bullet-358">
            <a:extLst xmlns:a="http://schemas.openxmlformats.org/drawingml/2006/main">
              <a:ext uri="{FF2B5EF4-FFF2-40B4-BE49-F238E27FC236}">
                <a16:creationId xmlns:a16="http://schemas.microsoft.com/office/drawing/2014/main" id="{ECE58A33-D6B2-4F9B-B6C9-C5529A1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•</a:t>
            </a:r>
          </a:p>
        </p:txBody>
      </p:sp>
      <p:sp>
        <p:nvSpPr>
          <p:cNvPr id="14" name="bullet-text-358">
            <a:extLst xmlns:a="http://schemas.openxmlformats.org/drawingml/2006/main">
              <a:ext uri="{FF2B5EF4-FFF2-40B4-BE49-F238E27FC236}">
                <a16:creationId xmlns:a16="http://schemas.microsoft.com/office/drawing/2014/main" id="{B1D3EA8E-BF0C-4983-A35B-EBD97B4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Suivre la progression de l'apprenant.</a:t>
            </a:r>
          </a:p>
        </p:txBody>
      </p:sp>
      <p:sp>
        <p:nvSpPr>
          <p:cNvPr id="15" name="bullet-401">
            <a:extLst xmlns:a="http://schemas.openxmlformats.org/drawingml/2006/main">
              <a:ext uri="{FF2B5EF4-FFF2-40B4-BE49-F238E27FC236}">
                <a16:creationId xmlns:a16="http://schemas.microsoft.com/office/drawing/2014/main" id="{ABCF3AAB-CF10-44E0-829C-1331690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•</a:t>
            </a:r>
          </a:p>
        </p:txBody>
      </p:sp>
      <p:sp>
        <p:nvSpPr>
          <p:cNvPr id="16" name="bullet-text-401">
            <a:extLst xmlns:a="http://schemas.openxmlformats.org/drawingml/2006/main">
              <a:ext uri="{FF2B5EF4-FFF2-40B4-BE49-F238E27FC236}">
                <a16:creationId xmlns:a16="http://schemas.microsoft.com/office/drawing/2014/main" id="{92DACF3B-DD15-4094-ADF1-962F7D6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Répondre aux questions grâce à un chatbot IA.</a:t>
            </a:r>
          </a:p>
        </p:txBody>
      </p:sp>
      <p:sp>
        <p:nvSpPr>
          <p:cNvPr id="17" name="bullet-444">
            <a:extLst xmlns:a="http://schemas.openxmlformats.org/drawingml/2006/main">
              <a:ext uri="{FF2B5EF4-FFF2-40B4-BE49-F238E27FC236}">
                <a16:creationId xmlns:a16="http://schemas.microsoft.com/office/drawing/2014/main" id="{B32135AB-DEE9-4160-9578-26C15AB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•</a:t>
            </a:r>
          </a:p>
        </p:txBody>
      </p:sp>
      <p:sp>
        <p:nvSpPr>
          <p:cNvPr id="18" name="bullet-text-444">
            <a:extLst xmlns:a="http://schemas.openxmlformats.org/drawingml/2006/main">
              <a:ext uri="{FF2B5EF4-FFF2-40B4-BE49-F238E27FC236}">
                <a16:creationId xmlns:a16="http://schemas.microsoft.com/office/drawing/2014/main" id="{ADD48D5B-EA3B-4009-A6BE-4103B1C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Exploiter un système RAG pour rechercher les informations dans les documents pédagogiques.</a:t>
            </a:r>
          </a:p>
        </p:txBody>
      </p:sp>
      <p:sp>
        <p:nvSpPr>
          <p:cNvPr id="19" name="TECHNOLOGIES UTILISÉES-marker">
            <a:extLst xmlns:a="http://schemas.openxmlformats.org/drawingml/2006/main">
              <a:ext uri="{FF2B5EF4-FFF2-40B4-BE49-F238E27FC236}">
                <a16:creationId xmlns:a16="http://schemas.microsoft.com/office/drawing/2014/main" id="{D5A5632B-C00C-465D-8C4B-F4B61D9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20" name="TECHNOLOGIES UTILISÉES-title">
            <a:extLst xmlns:a="http://schemas.openxmlformats.org/drawingml/2006/main">
              <a:ext uri="{FF2B5EF4-FFF2-40B4-BE49-F238E27FC236}">
                <a16:creationId xmlns:a16="http://schemas.microsoft.com/office/drawing/2014/main" id="{45887B35-9BBD-46E4-9F44-ADBAE3D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3935"/>
                </a:solidFill>
              </a:defRPr>
            </a:pPr>
            <a:r>
              <a:rPr sz="1350" b="1">
                <a:solidFill>
                  <a:srgbClr val="E53935"/>
                </a:solidFill>
              </a:rPr>
              <a:t>TECHNOLOGIES UTILISÉES</a:t>
            </a:r>
          </a:p>
        </p:txBody>
      </p:sp>
      <p:sp>
        <p:nvSpPr>
          <p:cNvPr id="21" name="TECHNOLOGIES UTILISÉES-rule">
            <a:extLst xmlns:a="http://schemas.openxmlformats.org/drawingml/2006/main">
              <a:ext uri="{FF2B5EF4-FFF2-40B4-BE49-F238E27FC236}">
                <a16:creationId xmlns:a16="http://schemas.microsoft.com/office/drawing/2014/main" id="{71538AB6-FD77-4D3F-BB45-832CFD6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86375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22" name="tech-Frontend">
            <a:extLst xmlns:a="http://schemas.openxmlformats.org/drawingml/2006/main">
              <a:ext uri="{FF2B5EF4-FFF2-40B4-BE49-F238E27FC236}">
                <a16:creationId xmlns:a16="http://schemas.microsoft.com/office/drawing/2014/main" id="{154E39E7-1A98-4D00-BD69-245E7C49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23" name="tech-title-Frontend">
            <a:extLst xmlns:a="http://schemas.openxmlformats.org/drawingml/2006/main">
              <a:ext uri="{FF2B5EF4-FFF2-40B4-BE49-F238E27FC236}">
                <a16:creationId xmlns:a16="http://schemas.microsoft.com/office/drawing/2014/main" id="{9AF7BE87-45D5-42B7-91A1-16BA304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3935"/>
                </a:solidFill>
              </a:defRPr>
            </a:pPr>
            <a:r>
              <a:rPr sz="1125" b="1">
                <a:solidFill>
                  <a:srgbClr val="E53935"/>
                </a:solidFill>
              </a:rPr>
              <a:t>Frontend</a:t>
            </a:r>
          </a:p>
        </p:txBody>
      </p:sp>
      <p:sp>
        <p:nvSpPr>
          <p:cNvPr id="24" name="tech-body-Frontend">
            <a:extLst xmlns:a="http://schemas.openxmlformats.org/drawingml/2006/main">
              <a:ext uri="{FF2B5EF4-FFF2-40B4-BE49-F238E27FC236}">
                <a16:creationId xmlns:a16="http://schemas.microsoft.com/office/drawing/2014/main" id="{89D13A0C-0064-4C95-912C-DEA296E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React.js</a:t>
            </a:r>
          </a:p>
        </p:txBody>
      </p:sp>
      <p:sp>
        <p:nvSpPr>
          <p:cNvPr id="25" name="tech-Backend">
            <a:extLst xmlns:a="http://schemas.openxmlformats.org/drawingml/2006/main">
              <a:ext uri="{FF2B5EF4-FFF2-40B4-BE49-F238E27FC236}">
                <a16:creationId xmlns:a16="http://schemas.microsoft.com/office/drawing/2014/main" id="{C16C27CC-F6B9-4B22-9F4C-1A132F3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054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26" name="tech-title-Backend">
            <a:extLst xmlns:a="http://schemas.openxmlformats.org/drawingml/2006/main">
              <a:ext uri="{FF2B5EF4-FFF2-40B4-BE49-F238E27FC236}">
                <a16:creationId xmlns:a16="http://schemas.microsoft.com/office/drawing/2014/main" id="{4778DA03-9BEC-4384-A014-FDFCA10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3935"/>
                </a:solidFill>
              </a:defRPr>
            </a:pPr>
            <a:r>
              <a:rPr sz="1125" b="1">
                <a:solidFill>
                  <a:srgbClr val="E53935"/>
                </a:solidFill>
              </a:rPr>
              <a:t>Backend</a:t>
            </a:r>
          </a:p>
        </p:txBody>
      </p:sp>
      <p:sp>
        <p:nvSpPr>
          <p:cNvPr id="27" name="tech-body-Backend">
            <a:extLst xmlns:a="http://schemas.openxmlformats.org/drawingml/2006/main">
              <a:ext uri="{FF2B5EF4-FFF2-40B4-BE49-F238E27FC236}">
                <a16:creationId xmlns:a16="http://schemas.microsoft.com/office/drawing/2014/main" id="{CAC669D5-80F4-4074-B6B2-29258B9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674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FastAPI</a:t>
            </a:r>
          </a:p>
        </p:txBody>
      </p:sp>
      <p:sp>
        <p:nvSpPr>
          <p:cNvPr id="28" name="tech-IA">
            <a:extLst xmlns:a="http://schemas.openxmlformats.org/drawingml/2006/main">
              <a:ext uri="{FF2B5EF4-FFF2-40B4-BE49-F238E27FC236}">
                <a16:creationId xmlns:a16="http://schemas.microsoft.com/office/drawing/2014/main" id="{37CCC8AA-024F-4E89-80C2-F72EFEC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29" name="tech-title-IA">
            <a:extLst xmlns:a="http://schemas.openxmlformats.org/drawingml/2006/main">
              <a:ext uri="{FF2B5EF4-FFF2-40B4-BE49-F238E27FC236}">
                <a16:creationId xmlns:a16="http://schemas.microsoft.com/office/drawing/2014/main" id="{67CD13D7-28C7-4044-B8E6-176179F7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38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3935"/>
                </a:solidFill>
              </a:defRPr>
            </a:pPr>
            <a:r>
              <a:rPr sz="1125" b="1">
                <a:solidFill>
                  <a:srgbClr val="E53935"/>
                </a:solidFill>
              </a:rPr>
              <a:t>IA</a:t>
            </a:r>
          </a:p>
        </p:txBody>
      </p:sp>
      <p:sp>
        <p:nvSpPr>
          <p:cNvPr id="30" name="tech-body-IA">
            <a:extLst xmlns:a="http://schemas.openxmlformats.org/drawingml/2006/main">
              <a:ext uri="{FF2B5EF4-FFF2-40B4-BE49-F238E27FC236}">
                <a16:creationId xmlns:a16="http://schemas.microsoft.com/office/drawing/2014/main" id="{A659E88F-D24D-419C-A8B2-5C672F8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674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Chatbot IA</a:t>
            </a:r>
          </a:p>
        </p:txBody>
      </p:sp>
      <p:sp>
        <p:nvSpPr>
          <p:cNvPr id="31" name="tech-RAG">
            <a:extLst xmlns:a="http://schemas.openxmlformats.org/drawingml/2006/main">
              <a:ext uri="{FF2B5EF4-FFF2-40B4-BE49-F238E27FC236}">
                <a16:creationId xmlns:a16="http://schemas.microsoft.com/office/drawing/2014/main" id="{1242A641-E7BA-407A-84B4-C88E9A4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05450"/>
            <a:ext cx="1447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32" name="tech-title-RAG">
            <a:extLst xmlns:a="http://schemas.openxmlformats.org/drawingml/2006/main">
              <a:ext uri="{FF2B5EF4-FFF2-40B4-BE49-F238E27FC236}">
                <a16:creationId xmlns:a16="http://schemas.microsoft.com/office/drawing/2014/main" id="{B84F1698-BA02-4CF1-8781-9823D84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38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3935"/>
                </a:solidFill>
              </a:defRPr>
            </a:pPr>
            <a:r>
              <a:rPr sz="1125" b="1">
                <a:solidFill>
                  <a:srgbClr val="E53935"/>
                </a:solidFill>
              </a:rPr>
              <a:t>RAG</a:t>
            </a:r>
          </a:p>
        </p:txBody>
      </p:sp>
      <p:sp>
        <p:nvSpPr>
          <p:cNvPr id="33" name="tech-body-RAG">
            <a:extLst xmlns:a="http://schemas.openxmlformats.org/drawingml/2006/main">
              <a:ext uri="{FF2B5EF4-FFF2-40B4-BE49-F238E27FC236}">
                <a16:creationId xmlns:a16="http://schemas.microsoft.com/office/drawing/2014/main" id="{46435350-059E-4DFA-9B49-E6062ED3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67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000000"/>
                </a:solidFill>
              </a:defRPr>
            </a:pPr>
            <a:r>
              <a:rPr sz="840" b="0">
                <a:solidFill>
                  <a:srgbClr val="000000"/>
                </a:solidFill>
              </a:rPr>
              <a:t>PDF</a:t>
            </a:r>
          </a:p>
          <a:p xmlns:a="http://schemas.openxmlformats.org/drawingml/2006/main">
            <a:pPr algn="ctr">
              <a:defRPr sz="840" b="0">
                <a:solidFill>
                  <a:srgbClr val="000000"/>
                </a:solidFill>
              </a:defRPr>
            </a:pPr>
            <a:r>
              <a:rPr sz="840" b="0">
                <a:solidFill>
                  <a:srgbClr val="000000"/>
                </a:solidFill>
              </a:rPr>
              <a:t>Chunking</a:t>
            </a:r>
          </a:p>
          <a:p xmlns:a="http://schemas.openxmlformats.org/drawingml/2006/main">
            <a:pPr algn="ctr">
              <a:defRPr sz="840" b="0">
                <a:solidFill>
                  <a:srgbClr val="000000"/>
                </a:solidFill>
              </a:defRPr>
            </a:pPr>
            <a:r>
              <a:rPr sz="840" b="0">
                <a:solidFill>
                  <a:srgbClr val="000000"/>
                </a:solidFill>
              </a:rPr>
              <a:t>Recherche documentaire</a:t>
            </a:r>
          </a:p>
        </p:txBody>
      </p:sp>
      <p:sp>
        <p:nvSpPr>
          <p:cNvPr id="3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A9922F45-2BF1-4CA1-AB47-03762F11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95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35" name="VUE D'ENSEMBLE DU PIPELINE-marker">
            <a:extLst xmlns:a="http://schemas.openxmlformats.org/drawingml/2006/main">
              <a:ext uri="{FF2B5EF4-FFF2-40B4-BE49-F238E27FC236}">
                <a16:creationId xmlns:a16="http://schemas.microsoft.com/office/drawing/2014/main" id="{EB8181DB-1C9C-4C03-BBB0-68300117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36" name="VUE D'ENSEMBLE DU PIPELINE-title">
            <a:extLst xmlns:a="http://schemas.openxmlformats.org/drawingml/2006/main">
              <a:ext uri="{FF2B5EF4-FFF2-40B4-BE49-F238E27FC236}">
                <a16:creationId xmlns:a16="http://schemas.microsoft.com/office/drawing/2014/main" id="{59C350B4-8934-4ED7-80E9-5E7A0F0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3935"/>
                </a:solidFill>
              </a:defRPr>
            </a:pPr>
            <a:r>
              <a:rPr sz="1350" b="1">
                <a:solidFill>
                  <a:srgbClr val="E53935"/>
                </a:solidFill>
              </a:rPr>
              <a:t>VUE D'ENSEMBLE DU PIPELINE</a:t>
            </a:r>
          </a:p>
        </p:txBody>
      </p:sp>
      <p:sp>
        <p:nvSpPr>
          <p:cNvPr id="37" name="VUE D'ENSEMBLE DU PIPELINE-rule">
            <a:extLst xmlns:a="http://schemas.openxmlformats.org/drawingml/2006/main">
              <a:ext uri="{FF2B5EF4-FFF2-40B4-BE49-F238E27FC236}">
                <a16:creationId xmlns:a16="http://schemas.microsoft.com/office/drawing/2014/main" id="{CC66E4E8-1F19-45FF-8328-A021415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81225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9525">
            <a:solidFill>
              <a:srgbClr val="E53935"/>
            </a:solidFill>
            <a:prstDash val="solid"/>
          </a:ln>
        </p:spPr>
      </p:sp>
      <p:sp>
        <p:nvSpPr>
          <p:cNvPr id="38" name="pipeline-Étudiant">
            <a:extLst xmlns:a="http://schemas.openxmlformats.org/drawingml/2006/main">
              <a:ext uri="{FF2B5EF4-FFF2-40B4-BE49-F238E27FC236}">
                <a16:creationId xmlns:a16="http://schemas.microsoft.com/office/drawing/2014/main" id="{6C207591-4995-4C3E-B1E6-01395F3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39" name="pipeline-label-Étudiant">
            <a:extLst xmlns:a="http://schemas.openxmlformats.org/drawingml/2006/main">
              <a:ext uri="{FF2B5EF4-FFF2-40B4-BE49-F238E27FC236}">
                <a16:creationId xmlns:a16="http://schemas.microsoft.com/office/drawing/2014/main" id="{8A30C6FA-7252-44D6-B1CE-DE20479E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384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Étudiant</a:t>
            </a:r>
          </a:p>
        </p:txBody>
      </p:sp>
      <p:sp>
        <p:nvSpPr>
          <p:cNvPr id="40" name="pipeline-Test diagnostique">
            <a:extLst xmlns:a="http://schemas.openxmlformats.org/drawingml/2006/main">
              <a:ext uri="{FF2B5EF4-FFF2-40B4-BE49-F238E27FC236}">
                <a16:creationId xmlns:a16="http://schemas.microsoft.com/office/drawing/2014/main" id="{973DD71F-8B3A-47F9-B747-2C1BA92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1" name="pipeline-label-Test diagnostique">
            <a:extLst xmlns:a="http://schemas.openxmlformats.org/drawingml/2006/main">
              <a:ext uri="{FF2B5EF4-FFF2-40B4-BE49-F238E27FC236}">
                <a16:creationId xmlns:a16="http://schemas.microsoft.com/office/drawing/2014/main" id="{8467A6A3-9560-4C3D-8A46-41B631E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Test diagnostique</a:t>
            </a:r>
          </a:p>
        </p:txBody>
      </p:sp>
      <p:sp>
        <p:nvSpPr>
          <p:cNvPr id="42" name="pipeline-Détermination du niveau">
            <a:extLst xmlns:a="http://schemas.openxmlformats.org/drawingml/2006/main">
              <a:ext uri="{FF2B5EF4-FFF2-40B4-BE49-F238E27FC236}">
                <a16:creationId xmlns:a16="http://schemas.microsoft.com/office/drawing/2014/main" id="{C1C54CF2-7A47-47D3-9C31-5C88EAD2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3" name="pipeline-label-Détermination du niveau">
            <a:extLst xmlns:a="http://schemas.openxmlformats.org/drawingml/2006/main">
              <a:ext uri="{FF2B5EF4-FFF2-40B4-BE49-F238E27FC236}">
                <a16:creationId xmlns:a16="http://schemas.microsoft.com/office/drawing/2014/main" id="{6C7CC79B-A0C1-4F95-9C7D-7CAD946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338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Détermination du niveau</a:t>
            </a:r>
          </a:p>
        </p:txBody>
      </p:sp>
      <p:sp>
        <p:nvSpPr>
          <p:cNvPr id="44" name="pipeline-Cours adaptés">
            <a:extLst xmlns:a="http://schemas.openxmlformats.org/drawingml/2006/main">
              <a:ext uri="{FF2B5EF4-FFF2-40B4-BE49-F238E27FC236}">
                <a16:creationId xmlns:a16="http://schemas.microsoft.com/office/drawing/2014/main" id="{ED154F81-62DA-4723-9B96-2ABAC8E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672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5" name="pipeline-label-Cours adaptés">
            <a:extLst xmlns:a="http://schemas.openxmlformats.org/drawingml/2006/main">
              <a:ext uri="{FF2B5EF4-FFF2-40B4-BE49-F238E27FC236}">
                <a16:creationId xmlns:a16="http://schemas.microsoft.com/office/drawing/2014/main" id="{A0E8AA3F-9771-43B2-A47E-DC8FE53E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815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Cours adaptés</a:t>
            </a:r>
          </a:p>
        </p:txBody>
      </p:sp>
      <p:sp>
        <p:nvSpPr>
          <p:cNvPr id="46" name="pipeline-Quiz &amp; Progression">
            <a:extLst xmlns:a="http://schemas.openxmlformats.org/drawingml/2006/main">
              <a:ext uri="{FF2B5EF4-FFF2-40B4-BE49-F238E27FC236}">
                <a16:creationId xmlns:a16="http://schemas.microsoft.com/office/drawing/2014/main" id="{36887B27-679E-400F-9854-C228036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149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7" name="pipeline-label-Quiz &amp; Progression">
            <a:extLst xmlns:a="http://schemas.openxmlformats.org/drawingml/2006/main">
              <a:ext uri="{FF2B5EF4-FFF2-40B4-BE49-F238E27FC236}">
                <a16:creationId xmlns:a16="http://schemas.microsoft.com/office/drawing/2014/main" id="{8194F471-C2EC-4C27-9329-01DB4A3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Quiz &amp; Progression</a:t>
            </a:r>
          </a:p>
        </p:txBody>
      </p:sp>
      <p:sp>
        <p:nvSpPr>
          <p:cNvPr id="48" name="pipeline-Chatbot IA (RAG)">
            <a:extLst xmlns:a="http://schemas.openxmlformats.org/drawingml/2006/main">
              <a:ext uri="{FF2B5EF4-FFF2-40B4-BE49-F238E27FC236}">
                <a16:creationId xmlns:a16="http://schemas.microsoft.com/office/drawing/2014/main" id="{7A941490-94BC-4516-A210-367098A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62625"/>
            <a:ext cx="3676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9" name="pipeline-label-Chatbot IA (RAG)">
            <a:extLst xmlns:a="http://schemas.openxmlformats.org/drawingml/2006/main">
              <a:ext uri="{FF2B5EF4-FFF2-40B4-BE49-F238E27FC236}">
                <a16:creationId xmlns:a16="http://schemas.microsoft.com/office/drawing/2014/main" id="{D0BAD2B0-CB48-4ED4-A9FA-AFA935B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76925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Chatbot IA (RAG)</a:t>
            </a:r>
          </a:p>
        </p:txBody>
      </p:sp>
      <p:sp>
        <p:nvSpPr>
          <p:cNvPr id="50" name="down-arrow-310">
            <a:extLst xmlns:a="http://schemas.openxmlformats.org/drawingml/2006/main">
              <a:ext uri="{FF2B5EF4-FFF2-40B4-BE49-F238E27FC236}">
                <a16:creationId xmlns:a16="http://schemas.microsoft.com/office/drawing/2014/main" id="{C178EDB3-AF8C-4A5B-ACBD-42FBFAF1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51" name="down-arrow-378">
            <a:extLst xmlns:a="http://schemas.openxmlformats.org/drawingml/2006/main">
              <a:ext uri="{FF2B5EF4-FFF2-40B4-BE49-F238E27FC236}">
                <a16:creationId xmlns:a16="http://schemas.microsoft.com/office/drawing/2014/main" id="{BBAE5E41-4A4C-4A23-AC25-8022D55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004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52" name="down-arrow-446">
            <a:extLst xmlns:a="http://schemas.openxmlformats.org/drawingml/2006/main">
              <a:ext uri="{FF2B5EF4-FFF2-40B4-BE49-F238E27FC236}">
                <a16:creationId xmlns:a16="http://schemas.microsoft.com/office/drawing/2014/main" id="{AAD9095D-E694-487B-9C38-0E384A3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481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53" name="down-arrow-514">
            <a:extLst xmlns:a="http://schemas.openxmlformats.org/drawingml/2006/main">
              <a:ext uri="{FF2B5EF4-FFF2-40B4-BE49-F238E27FC236}">
                <a16:creationId xmlns:a16="http://schemas.microsoft.com/office/drawing/2014/main" id="{55B3D962-F9A4-4971-92D5-F6A3C703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958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54" name="down-arrow-582">
            <a:extLst xmlns:a="http://schemas.openxmlformats.org/drawingml/2006/main">
              <a:ext uri="{FF2B5EF4-FFF2-40B4-BE49-F238E27FC236}">
                <a16:creationId xmlns:a16="http://schemas.microsoft.com/office/drawing/2014/main" id="{BF625F9B-21FA-4433-9ECB-BF69740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435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9315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2026-07-06T12:55:42.8070000Z</dcterms:created>
  <dcterms:modified xsi:type="dcterms:W3CDTF">2026-07-06T12:55:42.8070000Z</dcterms:modified>
</coreProperties>
</file>