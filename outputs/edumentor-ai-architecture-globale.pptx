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1e3d7d5896488f" /><Relationship Type="http://schemas.openxmlformats.org/officeDocument/2006/relationships/extended-properties" Target="/docProps/app.xml" Id="R60bc06130f374e0a" /><Relationship Type="http://schemas.openxmlformats.org/officeDocument/2006/relationships/officeDocument" Target="/ppt/presentation.xml" Id="Rf841c1c3c08a4f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d564e84d714c5f"/>
  </p:sldMasterIdLst>
  <p:notesMasterIdLst>
    <p:notesMasterId xmlns:r="http://schemas.openxmlformats.org/officeDocument/2006/relationships" r:id="R79c22aba282b4ef8"/>
  </p:notesMasterIdLst>
  <p:sldIdLst>
    <p:sldId xmlns:r="http://schemas.openxmlformats.org/officeDocument/2006/relationships" id="256" r:id="Re569e2b0e673499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f81bc1a9cc4673" /><Relationship Type="http://schemas.openxmlformats.org/officeDocument/2006/relationships/slideMaster" Target="/ppt/slideMasters/slideMaster1.xml" Id="Rfad564e84d714c5f" /><Relationship Type="http://schemas.openxmlformats.org/officeDocument/2006/relationships/notesMaster" Target="/ppt/notesMasters/notesMaster1.xml" Id="R79c22aba282b4ef8" /><Relationship Type="http://schemas.openxmlformats.org/officeDocument/2006/relationships/presProps" Target="/ppt/presProps.xml" Id="R434df51018a64e32" /><Relationship Type="http://schemas.openxmlformats.org/officeDocument/2006/relationships/tableStyles" Target="/ppt/tableStyles.xml" Id="Ra4798637bcb2443b" /><Relationship Type="http://schemas.openxmlformats.org/officeDocument/2006/relationships/slide" Target="/ppt/slides/slide1.xml" Id="Re569e2b0e67349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d3ae821cb843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cdb854f95c4fa9" /><Relationship Type="http://schemas.openxmlformats.org/officeDocument/2006/relationships/notesMaster" Target="/ppt/notesMasters/notesMaster1.xml" Id="R7a7460b1b70243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b6e55f3cc4a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ad84f650eb4670" /><Relationship Type="http://schemas.openxmlformats.org/officeDocument/2006/relationships/slideLayout" Target="/ppt/slideLayouts/slideLayout1.xml" Id="R1dcdc8268a7b4a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dc8268a7b4a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ce17294ed4c25" /><Relationship Type="http://schemas.openxmlformats.org/officeDocument/2006/relationships/notesSlide" Target="/ppt/notesSlides/notesSlide1.xml" Id="R23077432127a42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left-corner">
            <a:extLst xmlns:a="http://schemas.openxmlformats.org/drawingml/2006/main">
              <a:ext uri="{FF2B5EF4-FFF2-40B4-BE49-F238E27FC236}">
                <a16:creationId xmlns:a16="http://schemas.microsoft.com/office/drawing/2014/main" id="{18730C40-2923-48AE-809A-7EAA046B1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76300" cy="8763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2" name="slide-number-banner">
            <a:extLst xmlns:a="http://schemas.openxmlformats.org/drawingml/2006/main">
              <a:ext uri="{FF2B5EF4-FFF2-40B4-BE49-F238E27FC236}">
                <a16:creationId xmlns:a16="http://schemas.microsoft.com/office/drawing/2014/main" id="{6034CCFE-F40D-4A84-A775-2354DCD3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38125"/>
            <a:ext cx="154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0000"/>
          </a:solidFill>
          <a:ln xmlns:a="http://schemas.openxmlformats.org/drawingml/2006/main" w="0">
            <a:solidFill>
              <a:srgbClr val="C00000"/>
            </a:solidFill>
            <a:prstDash val="solid"/>
          </a:ln>
        </p:spPr>
      </p:sp>
      <p:sp>
        <p:nvSpPr>
          <p:cNvPr id="3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FA44ED-0264-41B1-AB9E-F4C42937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SLIDE 4</a:t>
            </a:r>
          </a:p>
        </p:txBody>
      </p:sp>
      <p:sp>
        <p:nvSpPr>
          <p:cNvPr id="4" name="main-title">
            <a:extLst xmlns:a="http://schemas.openxmlformats.org/drawingml/2006/main">
              <a:ext uri="{FF2B5EF4-FFF2-40B4-BE49-F238E27FC236}">
                <a16:creationId xmlns:a16="http://schemas.microsoft.com/office/drawing/2014/main" id="{5F0EE238-70F5-43BE-B81F-59BF8C9E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"/>
            <a:ext cx="790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C00000"/>
                </a:solidFill>
              </a:defRPr>
            </a:pPr>
            <a:r>
              <a:rPr sz="2475" b="1">
                <a:solidFill>
                  <a:srgbClr val="C00000"/>
                </a:solidFill>
              </a:rPr>
              <a:t>ARCHITECTURE GLOBALE DU SYSTÈME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E7C65EB-2550-4D6A-BEE3-6D89E7D2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1D2430"/>
                </a:solidFill>
              </a:defRPr>
            </a:pPr>
            <a:r>
              <a:rPr sz="1388" b="1">
                <a:solidFill>
                  <a:srgbClr val="1D2430"/>
                </a:solidFill>
              </a:rPr>
              <a:t>Interaction entre le Frontend, le Backend et le système RAG</a:t>
            </a:r>
          </a:p>
        </p:txBody>
      </p:sp>
      <p:sp>
        <p:nvSpPr>
          <p:cNvPr id="6" name="top-rule">
            <a:extLst xmlns:a="http://schemas.openxmlformats.org/drawingml/2006/main">
              <a:ext uri="{FF2B5EF4-FFF2-40B4-BE49-F238E27FC236}">
                <a16:creationId xmlns:a16="http://schemas.microsoft.com/office/drawing/2014/main" id="{457782F2-F715-4883-9E30-E4E0C704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66800"/>
            <a:ext cx="1173480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7" name="student-box">
            <a:extLst xmlns:a="http://schemas.openxmlformats.org/drawingml/2006/main">
              <a:ext uri="{FF2B5EF4-FFF2-40B4-BE49-F238E27FC236}">
                <a16:creationId xmlns:a16="http://schemas.microsoft.com/office/drawing/2014/main" id="{8A46E17E-37E7-49DF-91D5-9A9FC286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162050"/>
            <a:ext cx="3714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8" name="student-title">
            <a:extLst xmlns:a="http://schemas.openxmlformats.org/drawingml/2006/main">
              <a:ext uri="{FF2B5EF4-FFF2-40B4-BE49-F238E27FC236}">
                <a16:creationId xmlns:a16="http://schemas.microsoft.com/office/drawing/2014/main" id="{5C36F1C3-323C-4B77-83AF-026209FC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285875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Étudiant</a:t>
            </a:r>
          </a:p>
        </p:txBody>
      </p:sp>
      <p:sp>
        <p:nvSpPr>
          <p:cNvPr id="9" name="arrow-student-frontend">
            <a:extLst xmlns:a="http://schemas.openxmlformats.org/drawingml/2006/main">
              <a:ext uri="{FF2B5EF4-FFF2-40B4-BE49-F238E27FC236}">
                <a16:creationId xmlns:a16="http://schemas.microsoft.com/office/drawing/2014/main" id="{8EFA6E29-9056-4C27-BAB7-D6E34A7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764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10" name="frontend-box">
            <a:extLst xmlns:a="http://schemas.openxmlformats.org/drawingml/2006/main">
              <a:ext uri="{FF2B5EF4-FFF2-40B4-BE49-F238E27FC236}">
                <a16:creationId xmlns:a16="http://schemas.microsoft.com/office/drawing/2014/main" id="{1009E117-9360-469F-A6C1-455530D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66900"/>
            <a:ext cx="4572000" cy="10287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11" name="frontend-title">
            <a:extLst xmlns:a="http://schemas.openxmlformats.org/drawingml/2006/main">
              <a:ext uri="{FF2B5EF4-FFF2-40B4-BE49-F238E27FC236}">
                <a16:creationId xmlns:a16="http://schemas.microsoft.com/office/drawing/2014/main" id="{11203278-3413-45E8-BF72-0AEC4BED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907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Frontend – React.js</a:t>
            </a:r>
          </a:p>
        </p:txBody>
      </p:sp>
      <p:sp>
        <p:nvSpPr>
          <p:cNvPr id="12" name="frontend-body">
            <a:extLst xmlns:a="http://schemas.openxmlformats.org/drawingml/2006/main">
              <a:ext uri="{FF2B5EF4-FFF2-40B4-BE49-F238E27FC236}">
                <a16:creationId xmlns:a16="http://schemas.microsoft.com/office/drawing/2014/main" id="{8A5D2F74-8AE5-47A7-9696-180EE0A2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14575"/>
            <a:ext cx="3810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</a:defRPr>
            </a:pPr>
            <a:r>
              <a:rPr sz="855" b="0">
                <a:solidFill>
                  <a:srgbClr val="111111"/>
                </a:solidFill>
              </a:rPr>
              <a:t>• Dashboard</a:t>
            </a:r>
          </a:p>
          <a:p xmlns:a="http://schemas.openxmlformats.org/drawingml/2006/main">
            <a:pPr algn="l">
              <a:defRPr sz="855" b="0">
                <a:solidFill>
                  <a:srgbClr val="111111"/>
                </a:solidFill>
              </a:defRPr>
            </a:pPr>
            <a:r>
              <a:rPr sz="855" b="0">
                <a:solidFill>
                  <a:srgbClr val="111111"/>
                </a:solidFill>
              </a:rPr>
              <a:t>• Cours</a:t>
            </a:r>
          </a:p>
          <a:p xmlns:a="http://schemas.openxmlformats.org/drawingml/2006/main">
            <a:pPr algn="l">
              <a:defRPr sz="855" b="0">
                <a:solidFill>
                  <a:srgbClr val="111111"/>
                </a:solidFill>
              </a:defRPr>
            </a:pPr>
            <a:r>
              <a:rPr sz="855" b="0">
                <a:solidFill>
                  <a:srgbClr val="111111"/>
                </a:solidFill>
              </a:rPr>
              <a:t>• Quiz</a:t>
            </a:r>
          </a:p>
          <a:p xmlns:a="http://schemas.openxmlformats.org/drawingml/2006/main">
            <a:pPr algn="l">
              <a:defRPr sz="855" b="0">
                <a:solidFill>
                  <a:srgbClr val="111111"/>
                </a:solidFill>
              </a:defRPr>
            </a:pPr>
            <a:r>
              <a:rPr sz="855" b="0">
                <a:solidFill>
                  <a:srgbClr val="111111"/>
                </a:solidFill>
              </a:rPr>
              <a:t>• Chatbot IA</a:t>
            </a:r>
          </a:p>
        </p:txBody>
      </p:sp>
      <p:sp>
        <p:nvSpPr>
          <p:cNvPr id="13" name="arrow-frontend-api">
            <a:extLst xmlns:a="http://schemas.openxmlformats.org/drawingml/2006/main">
              <a:ext uri="{FF2B5EF4-FFF2-40B4-BE49-F238E27FC236}">
                <a16:creationId xmlns:a16="http://schemas.microsoft.com/office/drawing/2014/main" id="{91E458AB-28C5-46D6-9EC4-6C9DC49D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9146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14" name="api-rest-label">
            <a:extLst xmlns:a="http://schemas.openxmlformats.org/drawingml/2006/main">
              <a:ext uri="{FF2B5EF4-FFF2-40B4-BE49-F238E27FC236}">
                <a16:creationId xmlns:a16="http://schemas.microsoft.com/office/drawing/2014/main" id="{E0007B57-2B96-4D8E-9C47-A701E837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765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C00000"/>
                </a:solidFill>
              </a:defRPr>
            </a:pPr>
            <a:r>
              <a:rPr sz="938" b="1">
                <a:solidFill>
                  <a:srgbClr val="C00000"/>
                </a:solidFill>
              </a:rPr>
              <a:t>API REST</a:t>
            </a:r>
          </a:p>
        </p:txBody>
      </p:sp>
      <p:sp>
        <p:nvSpPr>
          <p:cNvPr id="15" name="arrow-api-backend">
            <a:extLst xmlns:a="http://schemas.openxmlformats.org/drawingml/2006/main">
              <a:ext uri="{FF2B5EF4-FFF2-40B4-BE49-F238E27FC236}">
                <a16:creationId xmlns:a16="http://schemas.microsoft.com/office/drawing/2014/main" id="{C7FBFB4C-A276-473B-8B80-59968E5C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480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00000"/>
                </a:solidFill>
              </a:defRPr>
            </a:pPr>
            <a:r>
              <a:rPr sz="1500" b="1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16" name="backend-box">
            <a:extLst xmlns:a="http://schemas.openxmlformats.org/drawingml/2006/main">
              <a:ext uri="{FF2B5EF4-FFF2-40B4-BE49-F238E27FC236}">
                <a16:creationId xmlns:a16="http://schemas.microsoft.com/office/drawing/2014/main" id="{29690792-545C-451F-BB4E-706AF167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29000"/>
            <a:ext cx="45720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17" name="backend-title">
            <a:extLst xmlns:a="http://schemas.openxmlformats.org/drawingml/2006/main">
              <a:ext uri="{FF2B5EF4-FFF2-40B4-BE49-F238E27FC236}">
                <a16:creationId xmlns:a16="http://schemas.microsoft.com/office/drawing/2014/main" id="{0A94F1E1-EC48-4237-A21B-13E3F58C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Backend – FastAPI</a:t>
            </a:r>
          </a:p>
        </p:txBody>
      </p:sp>
      <p:sp>
        <p:nvSpPr>
          <p:cNvPr id="18" name="backend-body">
            <a:extLst xmlns:a="http://schemas.openxmlformats.org/drawingml/2006/main">
              <a:ext uri="{FF2B5EF4-FFF2-40B4-BE49-F238E27FC236}">
                <a16:creationId xmlns:a16="http://schemas.microsoft.com/office/drawing/2014/main" id="{AFBDF86E-98A0-4F11-A465-98812B9E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Authentification</a:t>
            </a:r>
          </a:p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Test diagnostique</a:t>
            </a:r>
          </a:p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Gestion des cours &amp; Quiz</a:t>
            </a:r>
          </a:p>
          <a:p xmlns:a="http://schemas.openxmlformats.org/drawingml/2006/main">
            <a:pPr algn="l">
              <a:defRPr sz="810" b="0">
                <a:solidFill>
                  <a:srgbClr val="111111"/>
                </a:solidFill>
              </a:defRPr>
            </a:pPr>
            <a:r>
              <a:rPr sz="810" b="0">
                <a:solidFill>
                  <a:srgbClr val="111111"/>
                </a:solidFill>
              </a:rPr>
              <a:t>• Chatbot &amp; RAG</a:t>
            </a:r>
          </a:p>
        </p:txBody>
      </p:sp>
      <p:sp>
        <p:nvSpPr>
          <p:cNvPr id="19" name="split-vertical">
            <a:extLst xmlns:a="http://schemas.openxmlformats.org/drawingml/2006/main">
              <a:ext uri="{FF2B5EF4-FFF2-40B4-BE49-F238E27FC236}">
                <a16:creationId xmlns:a16="http://schemas.microsoft.com/office/drawing/2014/main" id="{FD356364-9850-401C-9393-EC76A293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343400"/>
            <a:ext cx="19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0" name="split-horizontal">
            <a:extLst xmlns:a="http://schemas.openxmlformats.org/drawingml/2006/main">
              <a:ext uri="{FF2B5EF4-FFF2-40B4-BE49-F238E27FC236}">
                <a16:creationId xmlns:a16="http://schemas.microsoft.com/office/drawing/2014/main" id="{A4DED841-94E1-4239-9964-118955CD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459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1" name="split-left">
            <a:extLst xmlns:a="http://schemas.openxmlformats.org/drawingml/2006/main">
              <a:ext uri="{FF2B5EF4-FFF2-40B4-BE49-F238E27FC236}">
                <a16:creationId xmlns:a16="http://schemas.microsoft.com/office/drawing/2014/main" id="{6B04637D-6BEE-41A6-8A8E-CA0D7C86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51485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2" name="split-right">
            <a:extLst xmlns:a="http://schemas.openxmlformats.org/drawingml/2006/main">
              <a:ext uri="{FF2B5EF4-FFF2-40B4-BE49-F238E27FC236}">
                <a16:creationId xmlns:a16="http://schemas.microsoft.com/office/drawing/2014/main" id="{F96FF8FD-488C-4F76-A57E-45CCE7C7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1485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23" name="arrow-split-rag">
            <a:extLst xmlns:a="http://schemas.openxmlformats.org/drawingml/2006/main">
              <a:ext uri="{FF2B5EF4-FFF2-40B4-BE49-F238E27FC236}">
                <a16:creationId xmlns:a16="http://schemas.microsoft.com/office/drawing/2014/main" id="{9884EDA1-FFA9-44E7-B7A2-DD0E95DD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4" name="arrow-split-localstorage">
            <a:extLst xmlns:a="http://schemas.openxmlformats.org/drawingml/2006/main">
              <a:ext uri="{FF2B5EF4-FFF2-40B4-BE49-F238E27FC236}">
                <a16:creationId xmlns:a16="http://schemas.microsoft.com/office/drawing/2014/main" id="{CFC80EB4-D2AC-4060-BD4E-F300712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291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▼</a:t>
            </a:r>
          </a:p>
        </p:txBody>
      </p:sp>
      <p:sp>
        <p:nvSpPr>
          <p:cNvPr id="25" name="rag-box">
            <a:extLst xmlns:a="http://schemas.openxmlformats.org/drawingml/2006/main">
              <a:ext uri="{FF2B5EF4-FFF2-40B4-BE49-F238E27FC236}">
                <a16:creationId xmlns:a16="http://schemas.microsoft.com/office/drawing/2014/main" id="{145AC5F9-B540-4571-A38F-BEFF046A7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62500"/>
            <a:ext cx="2905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26" name="rag-title">
            <a:extLst xmlns:a="http://schemas.openxmlformats.org/drawingml/2006/main">
              <a:ext uri="{FF2B5EF4-FFF2-40B4-BE49-F238E27FC236}">
                <a16:creationId xmlns:a16="http://schemas.microsoft.com/office/drawing/2014/main" id="{196DA0B3-9A9B-4AF1-84B9-9BEF3357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482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Système RAG</a:t>
            </a:r>
          </a:p>
        </p:txBody>
      </p:sp>
      <p:sp>
        <p:nvSpPr>
          <p:cNvPr id="27" name="rag-body">
            <a:extLst xmlns:a="http://schemas.openxmlformats.org/drawingml/2006/main">
              <a:ext uri="{FF2B5EF4-FFF2-40B4-BE49-F238E27FC236}">
                <a16:creationId xmlns:a16="http://schemas.microsoft.com/office/drawing/2014/main" id="{18381DE6-293E-49E8-AEFE-CF20653C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54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8" b="0">
                <a:solidFill>
                  <a:srgbClr val="111111"/>
                </a:solidFill>
              </a:defRPr>
            </a:pPr>
            <a:r>
              <a:rPr sz="698" b="0">
                <a:solidFill>
                  <a:srgbClr val="111111"/>
                </a:solidFill>
              </a:rPr>
              <a:t>• Chunking</a:t>
            </a:r>
          </a:p>
          <a:p xmlns:a="http://schemas.openxmlformats.org/drawingml/2006/main">
            <a:pPr algn="l">
              <a:defRPr sz="698" b="0">
                <a:solidFill>
                  <a:srgbClr val="111111"/>
                </a:solidFill>
              </a:defRPr>
            </a:pPr>
            <a:r>
              <a:rPr sz="698" b="0">
                <a:solidFill>
                  <a:srgbClr val="111111"/>
                </a:solidFill>
              </a:rPr>
              <a:t>• Recherche</a:t>
            </a:r>
          </a:p>
          <a:p xmlns:a="http://schemas.openxmlformats.org/drawingml/2006/main">
            <a:pPr algn="l">
              <a:defRPr sz="698" b="0">
                <a:solidFill>
                  <a:srgbClr val="111111"/>
                </a:solidFill>
              </a:defRPr>
            </a:pPr>
            <a:r>
              <a:rPr sz="698" b="0">
                <a:solidFill>
                  <a:srgbClr val="111111"/>
                </a:solidFill>
              </a:rPr>
              <a:t>• Génération de réponses</a:t>
            </a:r>
          </a:p>
          <a:p xmlns:a="http://schemas.openxmlformats.org/drawingml/2006/main">
            <a:pPr algn="l">
              <a:defRPr sz="698" b="0">
                <a:solidFill>
                  <a:srgbClr val="111111"/>
                </a:solidFill>
              </a:defRPr>
            </a:pPr>
            <a:r>
              <a:rPr sz="698" b="0">
                <a:solidFill>
                  <a:srgbClr val="111111"/>
                </a:solidFill>
              </a:rPr>
              <a:t>• Sources (PDF + page)</a:t>
            </a:r>
          </a:p>
        </p:txBody>
      </p:sp>
      <p:sp>
        <p:nvSpPr>
          <p:cNvPr id="28" name="localstorage-box">
            <a:extLst xmlns:a="http://schemas.openxmlformats.org/drawingml/2006/main">
              <a:ext uri="{FF2B5EF4-FFF2-40B4-BE49-F238E27FC236}">
                <a16:creationId xmlns:a16="http://schemas.microsoft.com/office/drawing/2014/main" id="{6510B7C8-EBD7-428F-AF64-48CE8026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762500"/>
            <a:ext cx="2905125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29" name="localstorage-title">
            <a:extLst xmlns:a="http://schemas.openxmlformats.org/drawingml/2006/main">
              <a:ext uri="{FF2B5EF4-FFF2-40B4-BE49-F238E27FC236}">
                <a16:creationId xmlns:a16="http://schemas.microsoft.com/office/drawing/2014/main" id="{DE2E12E7-08CF-4A03-AAA0-3B83AA02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848225"/>
            <a:ext cx="2524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LocalStorage</a:t>
            </a:r>
          </a:p>
        </p:txBody>
      </p:sp>
      <p:sp>
        <p:nvSpPr>
          <p:cNvPr id="30" name="localstorage-body">
            <a:extLst xmlns:a="http://schemas.openxmlformats.org/drawingml/2006/main">
              <a:ext uri="{FF2B5EF4-FFF2-40B4-BE49-F238E27FC236}">
                <a16:creationId xmlns:a16="http://schemas.microsoft.com/office/drawing/2014/main" id="{2FBD58B2-5113-416E-A055-3DFCEAF94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10540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11111"/>
                </a:solidFill>
              </a:defRPr>
            </a:pPr>
            <a:r>
              <a:rPr sz="757" b="0">
                <a:solidFill>
                  <a:srgbClr val="111111"/>
                </a:solidFill>
              </a:rPr>
              <a:t>• Progression</a:t>
            </a:r>
          </a:p>
          <a:p xmlns:a="http://schemas.openxmlformats.org/drawingml/2006/main">
            <a:pPr algn="l">
              <a:defRPr sz="757" b="0">
                <a:solidFill>
                  <a:srgbClr val="111111"/>
                </a:solidFill>
              </a:defRPr>
            </a:pPr>
            <a:r>
              <a:rPr sz="757" b="0">
                <a:solidFill>
                  <a:srgbClr val="111111"/>
                </a:solidFill>
              </a:rPr>
              <a:t>• Scores</a:t>
            </a:r>
          </a:p>
          <a:p xmlns:a="http://schemas.openxmlformats.org/drawingml/2006/main">
            <a:pPr algn="l">
              <a:defRPr sz="757" b="0">
                <a:solidFill>
                  <a:srgbClr val="111111"/>
                </a:solidFill>
              </a:defRPr>
            </a:pPr>
            <a:r>
              <a:rPr sz="757" b="0">
                <a:solidFill>
                  <a:srgbClr val="111111"/>
                </a:solidFill>
              </a:rPr>
              <a:t>• Historique</a:t>
            </a:r>
          </a:p>
        </p:txBody>
      </p:sp>
      <p:sp>
        <p:nvSpPr>
          <p:cNvPr id="31" name="rag-doc-vertical">
            <a:extLst xmlns:a="http://schemas.openxmlformats.org/drawingml/2006/main">
              <a:ext uri="{FF2B5EF4-FFF2-40B4-BE49-F238E27FC236}">
                <a16:creationId xmlns:a16="http://schemas.microsoft.com/office/drawing/2014/main" id="{9A17C9DC-E194-4631-89C6-769E8861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505450"/>
            <a:ext cx="19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32" name="rag-doc-horizontal">
            <a:extLst xmlns:a="http://schemas.openxmlformats.org/drawingml/2006/main">
              <a:ext uri="{FF2B5EF4-FFF2-40B4-BE49-F238E27FC236}">
                <a16:creationId xmlns:a16="http://schemas.microsoft.com/office/drawing/2014/main" id="{8E913076-6C6B-40AC-B95E-154DA8463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619750"/>
            <a:ext cx="647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33" name="rag-doc-arrow">
            <a:extLst xmlns:a="http://schemas.openxmlformats.org/drawingml/2006/main">
              <a:ext uri="{FF2B5EF4-FFF2-40B4-BE49-F238E27FC236}">
                <a16:creationId xmlns:a16="http://schemas.microsoft.com/office/drawing/2014/main" id="{CA0AE898-CAFF-470F-9ABC-981B5509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245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▶</a:t>
            </a:r>
          </a:p>
        </p:txBody>
      </p:sp>
      <p:sp>
        <p:nvSpPr>
          <p:cNvPr id="34" name="documents-box">
            <a:extLst xmlns:a="http://schemas.openxmlformats.org/drawingml/2006/main">
              <a:ext uri="{FF2B5EF4-FFF2-40B4-BE49-F238E27FC236}">
                <a16:creationId xmlns:a16="http://schemas.microsoft.com/office/drawing/2014/main" id="{568EF539-CDBD-4862-93A2-BDDF85EC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562600"/>
            <a:ext cx="36195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35" name="documents-title">
            <a:extLst xmlns:a="http://schemas.openxmlformats.org/drawingml/2006/main">
              <a:ext uri="{FF2B5EF4-FFF2-40B4-BE49-F238E27FC236}">
                <a16:creationId xmlns:a16="http://schemas.microsoft.com/office/drawing/2014/main" id="{605A21A6-BA25-41BA-8976-13729B9C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619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00000"/>
                </a:solidFill>
              </a:defRPr>
            </a:pPr>
            <a:r>
              <a:rPr sz="1200" b="1">
                <a:solidFill>
                  <a:srgbClr val="C00000"/>
                </a:solidFill>
              </a:rPr>
              <a:t>Documents PDF</a:t>
            </a:r>
          </a:p>
        </p:txBody>
      </p:sp>
      <p:sp>
        <p:nvSpPr>
          <p:cNvPr id="36" name="documents-body">
            <a:extLst xmlns:a="http://schemas.openxmlformats.org/drawingml/2006/main">
              <a:ext uri="{FF2B5EF4-FFF2-40B4-BE49-F238E27FC236}">
                <a16:creationId xmlns:a16="http://schemas.microsoft.com/office/drawing/2014/main" id="{D534CD3E-2A63-41BD-83AE-B79C2B7E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8578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7" b="0">
                <a:solidFill>
                  <a:srgbClr val="111111"/>
                </a:solidFill>
              </a:defRPr>
            </a:pPr>
            <a:r>
              <a:rPr sz="757" b="0">
                <a:solidFill>
                  <a:srgbClr val="111111"/>
                </a:solidFill>
              </a:rPr>
              <a:t>• IA     • Machine Learning     • Deep Learning</a:t>
            </a:r>
          </a:p>
          <a:p xmlns:a="http://schemas.openxmlformats.org/drawingml/2006/main">
            <a:pPr algn="l">
              <a:defRPr sz="757" b="0">
                <a:solidFill>
                  <a:srgbClr val="111111"/>
                </a:solidFill>
              </a:defRPr>
            </a:pPr>
            <a:r>
              <a:rPr sz="757" b="0">
                <a:solidFill>
                  <a:srgbClr val="111111"/>
                </a:solidFill>
              </a:rPr>
              <a:t>• LLM     • RAG</a:t>
            </a:r>
          </a:p>
        </p:txBody>
      </p:sp>
      <p:sp>
        <p:nvSpPr>
          <p:cNvPr id="37" name="technologies-panel">
            <a:extLst xmlns:a="http://schemas.openxmlformats.org/drawingml/2006/main">
              <a:ext uri="{FF2B5EF4-FFF2-40B4-BE49-F238E27FC236}">
                <a16:creationId xmlns:a16="http://schemas.microsoft.com/office/drawing/2014/main" id="{88D443E4-C2FA-4F01-AE26-6D566013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14625"/>
            <a:ext cx="1905000" cy="302895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E53935"/>
            </a:solidFill>
            <a:prstDash val="solid"/>
          </a:ln>
        </p:spPr>
      </p:sp>
      <p:sp>
        <p:nvSpPr>
          <p:cNvPr id="38" name="technologies-title">
            <a:extLst xmlns:a="http://schemas.openxmlformats.org/drawingml/2006/main">
              <a:ext uri="{FF2B5EF4-FFF2-40B4-BE49-F238E27FC236}">
                <a16:creationId xmlns:a16="http://schemas.microsoft.com/office/drawing/2014/main" id="{9A5550E0-9F00-4F5D-A8BC-7AF1F33F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003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Technologies</a:t>
            </a:r>
          </a:p>
        </p:txBody>
      </p:sp>
      <p:sp>
        <p:nvSpPr>
          <p:cNvPr id="39" name="technologies-rule">
            <a:extLst xmlns:a="http://schemas.openxmlformats.org/drawingml/2006/main">
              <a:ext uri="{FF2B5EF4-FFF2-40B4-BE49-F238E27FC236}">
                <a16:creationId xmlns:a16="http://schemas.microsoft.com/office/drawing/2014/main" id="{46207EC7-1FB8-45E6-B4AD-63A8E507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43275"/>
            <a:ext cx="139065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3935"/>
          </a:solidFill>
          <a:ln xmlns:a="http://schemas.openxmlformats.org/drawingml/2006/main" w="0">
            <a:solidFill>
              <a:srgbClr val="E53935"/>
            </a:solidFill>
            <a:prstDash val="solid"/>
          </a:ln>
        </p:spPr>
      </p:sp>
      <p:sp>
        <p:nvSpPr>
          <p:cNvPr id="40" name="tech-dot-0">
            <a:extLst xmlns:a="http://schemas.openxmlformats.org/drawingml/2006/main">
              <a:ext uri="{FF2B5EF4-FFF2-40B4-BE49-F238E27FC236}">
                <a16:creationId xmlns:a16="http://schemas.microsoft.com/office/drawing/2014/main" id="{23AB61DC-833A-41E9-B94A-99DC6BD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71875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41" name="tech-label-0">
            <a:extLst xmlns:a="http://schemas.openxmlformats.org/drawingml/2006/main">
              <a:ext uri="{FF2B5EF4-FFF2-40B4-BE49-F238E27FC236}">
                <a16:creationId xmlns:a16="http://schemas.microsoft.com/office/drawing/2014/main" id="{71B14330-B6A8-41A0-8478-19A023D6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React.js</a:t>
            </a:r>
          </a:p>
        </p:txBody>
      </p:sp>
      <p:sp>
        <p:nvSpPr>
          <p:cNvPr id="42" name="tech-dot-1">
            <a:extLst xmlns:a="http://schemas.openxmlformats.org/drawingml/2006/main">
              <a:ext uri="{FF2B5EF4-FFF2-40B4-BE49-F238E27FC236}">
                <a16:creationId xmlns:a16="http://schemas.microsoft.com/office/drawing/2014/main" id="{EA5F847E-F405-47BE-A10A-966DAABD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9433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43" name="tech-label-1">
            <a:extLst xmlns:a="http://schemas.openxmlformats.org/drawingml/2006/main">
              <a:ext uri="{FF2B5EF4-FFF2-40B4-BE49-F238E27FC236}">
                <a16:creationId xmlns:a16="http://schemas.microsoft.com/office/drawing/2014/main" id="{D042B9B0-9AAB-479C-A22B-5EC6A64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7192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FastAPI</a:t>
            </a:r>
          </a:p>
        </p:txBody>
      </p:sp>
      <p:sp>
        <p:nvSpPr>
          <p:cNvPr id="44" name="tech-dot-2">
            <a:extLst xmlns:a="http://schemas.openxmlformats.org/drawingml/2006/main">
              <a:ext uri="{FF2B5EF4-FFF2-40B4-BE49-F238E27FC236}">
                <a16:creationId xmlns:a16="http://schemas.microsoft.com/office/drawing/2014/main" id="{D89588B4-2B87-4286-86E0-8B017070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14825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45" name="tech-label-2">
            <a:extLst xmlns:a="http://schemas.openxmlformats.org/drawingml/2006/main">
              <a:ext uri="{FF2B5EF4-FFF2-40B4-BE49-F238E27FC236}">
                <a16:creationId xmlns:a16="http://schemas.microsoft.com/office/drawing/2014/main" id="{8907F3F6-CFA1-4CC1-9A07-2D8AE5B7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4340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PyPDF</a:t>
            </a:r>
          </a:p>
        </p:txBody>
      </p:sp>
      <p:sp>
        <p:nvSpPr>
          <p:cNvPr id="46" name="tech-dot-3">
            <a:extLst xmlns:a="http://schemas.openxmlformats.org/drawingml/2006/main">
              <a:ext uri="{FF2B5EF4-FFF2-40B4-BE49-F238E27FC236}">
                <a16:creationId xmlns:a16="http://schemas.microsoft.com/office/drawing/2014/main" id="{0D4FAE65-1303-4606-9795-20868BE6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68630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47" name="tech-label-3">
            <a:extLst xmlns:a="http://schemas.openxmlformats.org/drawingml/2006/main">
              <a:ext uri="{FF2B5EF4-FFF2-40B4-BE49-F238E27FC236}">
                <a16:creationId xmlns:a16="http://schemas.microsoft.com/office/drawing/2014/main" id="{64EF2618-0FBB-4588-A14A-014B2285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71487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RAG</a:t>
            </a:r>
          </a:p>
        </p:txBody>
      </p:sp>
      <p:sp>
        <p:nvSpPr>
          <p:cNvPr id="48" name="tech-dot-4">
            <a:extLst xmlns:a="http://schemas.openxmlformats.org/drawingml/2006/main">
              <a:ext uri="{FF2B5EF4-FFF2-40B4-BE49-F238E27FC236}">
                <a16:creationId xmlns:a16="http://schemas.microsoft.com/office/drawing/2014/main" id="{B50C9842-D7E9-436E-BDA5-4ED62204B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057775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49" name="tech-label-4">
            <a:extLst xmlns:a="http://schemas.openxmlformats.org/drawingml/2006/main">
              <a:ext uri="{FF2B5EF4-FFF2-40B4-BE49-F238E27FC236}">
                <a16:creationId xmlns:a16="http://schemas.microsoft.com/office/drawing/2014/main" id="{1284AD18-B13D-4E1D-8992-7803297E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0863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LocalStorage</a:t>
            </a:r>
          </a:p>
        </p:txBody>
      </p:sp>
      <p:sp>
        <p:nvSpPr>
          <p:cNvPr id="50" name="tech-dot-5">
            <a:extLst xmlns:a="http://schemas.openxmlformats.org/drawingml/2006/main">
              <a:ext uri="{FF2B5EF4-FFF2-40B4-BE49-F238E27FC236}">
                <a16:creationId xmlns:a16="http://schemas.microsoft.com/office/drawing/2014/main" id="{4F92C8D2-2D5B-44B3-A90D-4B52F466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429250"/>
            <a:ext cx="152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00000"/>
                </a:solidFill>
              </a:defRPr>
            </a:pPr>
            <a:r>
              <a:rPr sz="1350" b="1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51" name="tech-label-5">
            <a:extLst xmlns:a="http://schemas.openxmlformats.org/drawingml/2006/main">
              <a:ext uri="{FF2B5EF4-FFF2-40B4-BE49-F238E27FC236}">
                <a16:creationId xmlns:a16="http://schemas.microsoft.com/office/drawing/2014/main" id="{A8993E0D-E78B-492A-87EF-108942E40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45782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111111"/>
                </a:solidFill>
              </a:defRPr>
            </a:pPr>
            <a:r>
              <a:rPr sz="1140" b="0">
                <a:solidFill>
                  <a:srgbClr val="111111"/>
                </a:solidFill>
              </a:rPr>
              <a:t>REST API</a:t>
            </a:r>
          </a:p>
        </p:txBody>
      </p:sp>
      <p:sp>
        <p:nvSpPr>
          <p:cNvPr id="52" name="bottom-message-box">
            <a:extLst xmlns:a="http://schemas.openxmlformats.org/drawingml/2006/main">
              <a:ext uri="{FF2B5EF4-FFF2-40B4-BE49-F238E27FC236}">
                <a16:creationId xmlns:a16="http://schemas.microsoft.com/office/drawing/2014/main" id="{504BD96A-F268-48EA-9EB7-CBAFD6E1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286500"/>
            <a:ext cx="98298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3935"/>
            </a:solidFill>
            <a:prstDash val="dash"/>
          </a:ln>
        </p:spPr>
      </p:sp>
      <p:sp>
        <p:nvSpPr>
          <p:cNvPr id="53" name="bottom-message">
            <a:extLst xmlns:a="http://schemas.openxmlformats.org/drawingml/2006/main">
              <a:ext uri="{FF2B5EF4-FFF2-40B4-BE49-F238E27FC236}">
                <a16:creationId xmlns:a16="http://schemas.microsoft.com/office/drawing/2014/main" id="{5685F81C-E4C6-4759-9FBF-BAA51DCB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324600"/>
            <a:ext cx="8858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90" b="0">
                <a:solidFill>
                  <a:srgbClr val="111111"/>
                </a:solidFill>
              </a:defRPr>
            </a:pPr>
            <a:r>
              <a:rPr sz="990" b="0">
                <a:solidFill>
                  <a:srgbClr val="111111"/>
                </a:solidFill>
              </a:rPr>
              <a:t>Cette architecture permet de personnaliser l'apprentissage de chaque étudiant grâce à l'IA et au système RAG,</a:t>
            </a:r>
          </a:p>
          <a:p xmlns:a="http://schemas.openxmlformats.org/drawingml/2006/main">
            <a:pPr algn="ctr">
              <a:defRPr sz="990" b="0">
                <a:solidFill>
                  <a:srgbClr val="111111"/>
                </a:solidFill>
              </a:defRPr>
            </a:pPr>
            <a:r>
              <a:rPr sz="990" b="0">
                <a:solidFill>
                  <a:srgbClr val="111111"/>
                </a:solidFill>
              </a:rPr>
              <a:t>tout en garantissant des réponses fondées sur les documents pédagogiques.</a:t>
            </a:r>
          </a:p>
        </p:txBody>
      </p:sp>
    </p:spTree>
    <p:extLst>
      <p:ext uri="{BB962C8B-B14F-4D97-AF65-F5344CB8AC3E}">
        <p14:creationId xmlns:p14="http://schemas.microsoft.com/office/powerpoint/2010/main" val="20946673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2026-07-06T13:45:49.8640000Z</dcterms:created>
  <dcterms:modified xsi:type="dcterms:W3CDTF">2026-07-06T13:45:49.8640000Z</dcterms:modified>
</coreProperties>
</file>